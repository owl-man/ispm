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649A8-3ADF-4919-BCDF-FC2B8C6D828D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65D01-C0EA-4AC7-9B3B-E0E027DD3D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37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AC318-8254-46BA-A728-CE0D5CF132E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35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E1F35-929D-765C-467A-4EB9C76F5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74665B-C0FE-7AD0-3001-5D5CE00B6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811377-9B6C-0621-C336-A07656D4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9DF1C5-15B5-3BED-A5A6-897E29ED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2253FB-F2D2-4556-2549-707131B1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95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3589C-E88D-5415-008A-BAD82F5E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7F7949-12AE-C460-548B-5416E36E5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2E037B-AC54-CBCA-07A2-466171EA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900144-6504-A1C1-0CE8-BA6058A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6F3982-C7AC-F6CA-9A6E-388C9C10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308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6A5DD-A6E9-AA23-84B0-0CE55FAED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5D2D1A-15CC-5616-E7EA-36730B185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55851A-529A-125A-406C-69FA540E4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BFCC96-A979-6E9E-AF83-5D34FD1C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8B0D22-E9DF-B5B3-E6EB-1B0D5142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38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1B6845-1F19-D333-FFEE-8C6E666D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251E57-5DB3-E4C0-FA5E-4BCE3E767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D838BE-D638-83E0-FE89-130BEAA1B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50B08E-CCAA-B23D-75EE-8B498803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82C391-7EC4-3C50-5FB4-206AC91FB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199268-E9E0-7F4B-7408-622EABC9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07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2796DC-6363-DD7D-85D5-3D5224AD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2377E9-E934-2755-B697-A61684ABE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B6FE72-480B-064E-924C-C7A001F5D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C464E76-7015-B4B1-BBF3-F10FAFA6D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1AFABB-E161-F61F-A497-38C38414B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ADD54E-A2A6-AF63-3CDF-0C4C834C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FC061BD-3AEA-E6B7-A8D9-FF8BA849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F5EA164-1A57-8140-5C9A-4E695410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23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97F25-E0BD-4CAD-FFBB-28FE0F73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36750D-52D7-0527-B1EE-422224E5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6D0125-5DDD-B249-3206-99A51CA3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A090A2-27EB-8DB1-AAE2-868BE2C6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11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94AC1DA-48A2-1795-F55C-173ABC29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A13315E-43CD-0798-67F6-07FA54B4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F5A906-0A30-27B9-AE98-745B580B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23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8BBD47-7EE7-3107-688E-0A036A7B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19A806-5008-DE6A-8A7B-E181228C3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707038-0F9F-320A-FE75-91B6F9F80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93B28E-0840-24FD-78BA-829BAAE7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56E88D-2176-925A-DFCE-28E50201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6B644E-E0C4-DAE2-DFF4-4EF50E6F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99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9E9D3-1D8F-3F17-6C3B-2CFAD5D7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567042-1BA2-6D2E-92D2-F12F4FED3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35B05F-FCAA-CD25-D29E-565EC37B6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FAEC6E-E237-0743-FD54-F60775F2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6BA437-0BC0-2260-D389-5EB9BB08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90A50A-AC4D-BC6A-B8EE-64440856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01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4D1FBC-DCA3-8A45-5EA9-81D45944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FE4B4A-1736-E23D-48AD-B56CB3A91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3A1CFF-C4CA-8F77-7F55-3FA33946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1A4BA0-865B-258F-0C89-4CC55006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205155-1B78-924A-9EF4-8D632F2E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68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C3D87B-7DDE-8736-2BFC-DC3C36C6D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A7D597-AB26-FD20-696B-4E9058319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8279B1-ECE4-4437-DBB3-44A32734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17ECC4-0C89-4BC0-8D68-ED9308C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3835DD-3440-F9F4-2F29-20F60192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86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02E22-4762-28A6-19B4-EABD3133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C6122F-A985-01C4-F064-AEBCE5EE7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09FF9A-71B7-F89E-3EB0-7A47BBE93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62B72-092A-4920-97DB-E512F709D449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436BBA-7FB4-9D0B-3194-E9A2417BA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42B97-3479-004B-38B8-E59F96D29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93"/>
            <a:ext cx="12192000" cy="685800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2493"/>
            <a:ext cx="12192000" cy="1323219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/>
                <a:cs typeface="Times New Roman" panose="02020603050405020304"/>
              </a:rPr>
              <a:t>МИНИСТЕРСТВО</a:t>
            </a:r>
            <a:r>
              <a:rPr lang="ru-RU" sz="2000" dirty="0">
                <a:latin typeface="Times New Roman" panose="02020603050405020304"/>
                <a:ea typeface="+mj-lt"/>
                <a:cs typeface="+mj-lt"/>
              </a:rPr>
              <a:t> НАУКИ И ВЫСШЕГО ОБРАЗОВАНИЯ</a:t>
            </a:r>
            <a:endParaRPr lang="ru-RU" sz="2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ru-RU" sz="2000" dirty="0">
                <a:latin typeface="Times New Roman" panose="02020603050405020304"/>
                <a:ea typeface="+mj-lt"/>
                <a:cs typeface="+mj-lt"/>
              </a:rPr>
              <a:t>РОССИЙСКОЙ ФЕДЕРАЦИИ</a:t>
            </a:r>
            <a:br>
              <a:rPr lang="ru-RU" sz="2000" dirty="0">
                <a:latin typeface="Times New Roman" panose="02020603050405020304"/>
                <a:ea typeface="+mj-lt"/>
                <a:cs typeface="+mj-lt"/>
              </a:rPr>
            </a:br>
            <a:r>
              <a:rPr lang="ru-RU" sz="2000" dirty="0">
                <a:latin typeface="Times New Roman" panose="02020603050405020304"/>
                <a:ea typeface="+mj-lt"/>
                <a:cs typeface="+mj-lt"/>
              </a:rPr>
              <a:t> </a:t>
            </a:r>
            <a:endParaRPr lang="ru-RU" sz="2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ru-RU" sz="2000" dirty="0">
                <a:latin typeface="Times New Roman" panose="02020603050405020304"/>
                <a:ea typeface="+mj-lt"/>
                <a:cs typeface="+mj-lt"/>
              </a:rPr>
              <a:t>МОСКОВСКИЙ ГОСУДАРСТВЕННЫЙ УНИВЕРСИТЕТ ГЕОДЕЗИИ И КАРТОГРАФИИ (МИИГАИК)</a:t>
            </a:r>
            <a:endParaRPr lang="ru-RU"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61709" y="4042064"/>
            <a:ext cx="6830291" cy="206779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algn="r"/>
            <a:r>
              <a:rPr lang="ru-RU" sz="6400" dirty="0">
                <a:latin typeface="Times New Roman" panose="02020603050405020304"/>
                <a:ea typeface="+mn-lt"/>
                <a:cs typeface="+mn-lt"/>
              </a:rPr>
              <a:t>Научный руководитель: </a:t>
            </a:r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r>
              <a:rPr lang="en-US" sz="6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преподаватель</a:t>
            </a:r>
            <a:r>
              <a:rPr lang="en-US" sz="6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кафедры</a:t>
            </a:r>
            <a:r>
              <a:rPr lang="en-US" sz="6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r"/>
            <a:r>
              <a:rPr lang="en-US" sz="6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информати</a:t>
            </a:r>
            <a:r>
              <a:rPr lang="en-US" sz="6400" dirty="0" err="1">
                <a:latin typeface="Times New Roman"/>
                <a:ea typeface="Times New Roman"/>
                <a:cs typeface="Times New Roman"/>
                <a:sym typeface="Times New Roman"/>
              </a:rPr>
              <a:t>ки</a:t>
            </a:r>
            <a:r>
              <a:rPr lang="en-US" sz="6400" dirty="0"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6400" dirty="0" err="1">
                <a:latin typeface="Times New Roman"/>
                <a:ea typeface="Times New Roman"/>
                <a:cs typeface="Times New Roman"/>
                <a:sym typeface="Times New Roman"/>
              </a:rPr>
              <a:t>геоинформационных</a:t>
            </a:r>
            <a:r>
              <a:rPr lang="en-US" sz="6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r"/>
            <a:r>
              <a:rPr lang="en-US" sz="6400" dirty="0" err="1">
                <a:latin typeface="Times New Roman"/>
                <a:ea typeface="Times New Roman"/>
                <a:cs typeface="Times New Roman"/>
                <a:sym typeface="Times New Roman"/>
              </a:rPr>
              <a:t>технологий</a:t>
            </a:r>
            <a:endParaRPr lang="en-US" sz="6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/>
            <a:r>
              <a:rPr lang="ru-RU" sz="6400" dirty="0">
                <a:latin typeface="Times New Roman" panose="02020603050405020304"/>
                <a:ea typeface="+mn-lt"/>
                <a:cs typeface="+mn-lt"/>
              </a:rPr>
              <a:t>Лебедев Евгений Денисович</a:t>
            </a:r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r>
              <a:rPr lang="ru-RU" sz="6400" dirty="0">
                <a:latin typeface="Times New Roman" panose="02020603050405020304"/>
                <a:ea typeface="+mn-lt"/>
                <a:cs typeface="+mn-lt"/>
              </a:rPr>
              <a:t>Выполнил студент 2022-ФГиИБ-ПИ-1Б</a:t>
            </a:r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r>
              <a:rPr lang="ru-RU" sz="6400" dirty="0" err="1">
                <a:latin typeface="Times New Roman" panose="02020603050405020304"/>
                <a:cs typeface="Times New Roman" panose="02020603050405020304"/>
              </a:rPr>
              <a:t>Угурлиев</a:t>
            </a:r>
            <a:r>
              <a:rPr lang="ru-RU" sz="6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 sz="6400" dirty="0" err="1">
                <a:latin typeface="Times New Roman" panose="02020603050405020304"/>
                <a:cs typeface="Times New Roman" panose="02020603050405020304"/>
              </a:rPr>
              <a:t>Агамир</a:t>
            </a:r>
            <a:r>
              <a:rPr lang="ru-RU" sz="6400" dirty="0">
                <a:latin typeface="Times New Roman" panose="02020603050405020304"/>
                <a:cs typeface="Times New Roman" panose="02020603050405020304"/>
              </a:rPr>
              <a:t> Мирза </a:t>
            </a:r>
            <a:r>
              <a:rPr lang="ru-RU" sz="6400" dirty="0" err="1">
                <a:latin typeface="Times New Roman" panose="02020603050405020304"/>
                <a:cs typeface="Times New Roman" panose="02020603050405020304"/>
              </a:rPr>
              <a:t>оглы</a:t>
            </a:r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endParaRPr lang="ru-RU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839" y="1471220"/>
            <a:ext cx="1187467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ru-RU" dirty="0">
                <a:latin typeface="Times New Roman" panose="02020603050405020304" charset="0"/>
                <a:cs typeface="Times New Roman" panose="02020603050405020304" charset="0"/>
              </a:rPr>
              <a:t>Факультет геоинформатики и информационной безопасности</a:t>
            </a:r>
          </a:p>
          <a:p>
            <a:pPr algn="ctr"/>
            <a:r>
              <a:rPr lang="ru-RU" sz="2000" dirty="0">
                <a:latin typeface="Times New Roman" panose="02020603050405020304" charset="0"/>
                <a:cs typeface="Times New Roman" panose="02020603050405020304" charset="0"/>
              </a:rPr>
              <a:t>Кафедра информатики и геоинформационных технологий</a:t>
            </a:r>
          </a:p>
          <a:p>
            <a:pPr algn="ctr"/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sz="2000" b="1" dirty="0">
                <a:latin typeface="Times New Roman" panose="02020603050405020304" charset="0"/>
                <a:cs typeface="Times New Roman" panose="02020603050405020304" charset="0"/>
              </a:rPr>
              <a:t>ВЫПУСКНАЯ КВАЛИФИКАЦИОННАЯ РАБОТА</a:t>
            </a:r>
          </a:p>
          <a:p>
            <a:pPr algn="ctr"/>
            <a:endParaRPr lang="ru-RU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sz="1600" dirty="0">
                <a:latin typeface="Times New Roman" panose="02020603050405020304" charset="0"/>
                <a:cs typeface="Times New Roman" panose="02020603050405020304" charset="0"/>
              </a:rPr>
              <a:t>на тему: </a:t>
            </a:r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«Разработка карточной игры на </a:t>
            </a:r>
            <a:r>
              <a:rPr lang="ru-RU" sz="1600" b="1" dirty="0" err="1">
                <a:latin typeface="Times New Roman" panose="02020603050405020304" charset="0"/>
                <a:cs typeface="Times New Roman" panose="02020603050405020304" charset="0"/>
              </a:rPr>
              <a:t>Unity</a:t>
            </a:r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 с реализацией ИИ-оппонента»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52890" y="6386989"/>
            <a:ext cx="28423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ru-RU" sz="1600" dirty="0">
                <a:latin typeface="Times New Roman" panose="02020603050405020304"/>
                <a:cs typeface="Times New Roman" panose="02020603050405020304"/>
              </a:rPr>
              <a:t>Москва,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10" y="1"/>
            <a:ext cx="12192000" cy="10287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/>
                <a:cs typeface="Times New Roman" panose="02020603050405020304"/>
              </a:rPr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9203" y="1500159"/>
            <a:ext cx="11773593" cy="4570441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/>
                <a:ea typeface="+mn-lt"/>
                <a:cs typeface="+mn-lt"/>
              </a:rPr>
              <a:t>	</a:t>
            </a:r>
            <a:r>
              <a:rPr lang="ru-RU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 обусловлена высоким интересом аудитории к жанру карточных стратегий. Однако анализ рынка показал существенный недостаток в сегменте инди-разработки: большинство проектов либо чрезмерно упрощены (</a:t>
            </a:r>
            <a:r>
              <a:rPr lang="ru-RU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казуальны</a:t>
            </a:r>
            <a:r>
              <a:rPr lang="ru-RU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либо, напротив, обладают критически высоким порогом входа, требуя от игрока изучения десятков страниц правил.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</a:t>
            </a:r>
            <a:r>
              <a:rPr lang="ru-RU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Diceville</a:t>
            </a:r>
            <a:r>
              <a:rPr lang="ru-RU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решает эту проблему, занимая свободную нишу. Мы совместили интуитивную понятность классических настольных игр (низкий порог входа) с глубокой вариативностью геймплея. Высокая </a:t>
            </a:r>
            <a:r>
              <a:rPr lang="ru-RU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реиграбельность</a:t>
            </a:r>
            <a:r>
              <a:rPr lang="ru-RU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достигается за счет гибридной механики: сочетания карточной колоды, генерации случайных чисел (кубиков) и умного ИИ-оппонента.</a:t>
            </a:r>
            <a:endParaRPr lang="ru-RU" sz="5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9162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/>
                <a:ea typeface="+mj-lt"/>
                <a:cs typeface="+mj-lt"/>
              </a:rPr>
              <a:t>Цели и задачи</a:t>
            </a:r>
            <a:endParaRPr lang="ru-RU" dirty="0"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1767" y="1093371"/>
            <a:ext cx="1110580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/>
                <a:cs typeface="Times New Roman" panose="02020603050405020304"/>
              </a:rPr>
              <a:t>Цель</a:t>
            </a:r>
            <a:r>
              <a:rPr lang="ru-RU" sz="2400" dirty="0">
                <a:latin typeface="Times New Roman" panose="02020603050405020304"/>
                <a:cs typeface="Times New Roman" panose="02020603050405020304"/>
              </a:rPr>
              <a:t>: Разработать карточную игру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Diceville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на движке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/>
                <a:cs typeface="Times New Roman" panose="02020603050405020304"/>
              </a:rPr>
              <a:t>Задачи</a:t>
            </a:r>
            <a:r>
              <a:rPr lang="ru-RU" sz="2400" dirty="0">
                <a:latin typeface="Times New Roman" panose="02020603050405020304"/>
                <a:cs typeface="Times New Roman" panose="02020603050405020304"/>
              </a:rPr>
              <a:t>:</a:t>
            </a: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Times New Roman" panose="02020603050405020304"/>
              </a:rPr>
              <a:t>Провести обзор имеющихся аналогов</a:t>
            </a: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Проектирование архитектуры (UML) и логики взаимодействия компонентов.</a:t>
            </a: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ИИ и игровых механик на движке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Оптимизация UI/UX и проведение комплексного тестирования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7909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Сравнение аналогов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8610600" y="6393986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ea typeface="+mn-lt"/>
                <a:cs typeface="+mn-lt"/>
              </a:rPr>
              <a:t> </a:t>
            </a:r>
            <a:endParaRPr lang="ru-RU" dirty="0">
              <a:latin typeface="Times New Roman" panose="02020603050405020304"/>
              <a:ea typeface="+mn-lt"/>
              <a:cs typeface="+mn-lt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410547" y="1369677"/>
          <a:ext cx="11555784" cy="4846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1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8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5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ПроРодинки</a:t>
                      </a:r>
                      <a:endParaRPr lang="en-US" sz="2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SkinVision</a:t>
                      </a:r>
                      <a:endParaRPr lang="en-US" sz="2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Skinive</a:t>
                      </a:r>
                      <a:r>
                        <a:rPr lang="en-US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13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русского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языка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13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Бесплатный функционал</a:t>
                      </a:r>
                      <a:endParaRPr lang="ru-RU" altLang="en-US" sz="2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20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alt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altLang="en-US" sz="2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определяемых типов заболеваний</a:t>
                      </a:r>
                      <a:endParaRPr lang="ru-RU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27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карты для локализации мед. учреждений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88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 в </a:t>
                      </a:r>
                      <a:r>
                        <a:rPr lang="ru-RU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оффлайн</a:t>
                      </a:r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-режиме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715870"/>
                  </a:ext>
                </a:extLst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14648" y="997486"/>
            <a:ext cx="749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000" dirty="0">
                <a:latin typeface="Times New Roman" panose="02020603050405020304" charset="0"/>
                <a:cs typeface="Times New Roman" panose="02020603050405020304" charset="0"/>
              </a:rPr>
              <a:t>Таблица 1. Сравнительный анализ мобильных приложений</a:t>
            </a:r>
            <a:r>
              <a:rPr lang="ru-RU" altLang="en-US" sz="2000" dirty="0"/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264</Words>
  <Application>Microsoft Office PowerPoint</Application>
  <PresentationFormat>Широкоэкранный</PresentationFormat>
  <Paragraphs>59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Тема Office</vt:lpstr>
      <vt:lpstr>МИНИСТЕРСТВО НАУКИ И ВЫСШЕГО ОБРАЗОВАНИЯ РОССИЙСКОЙ ФЕДЕРАЦИИ   МОСКОВСКИЙ ГОСУДАРСТВЕННЫЙ УНИВЕРСИТЕТ ГЕОДЕЗИИ И КАРТОГРАФИИ (МИИГАИК)</vt:lpstr>
      <vt:lpstr>Актуальность</vt:lpstr>
      <vt:lpstr>Цели и задачи</vt:lpstr>
      <vt:lpstr>Сравнение аналогов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Fire Owl</dc:creator>
  <cp:lastModifiedBy>Fire Owl</cp:lastModifiedBy>
  <cp:revision>11</cp:revision>
  <dcterms:created xsi:type="dcterms:W3CDTF">2025-12-17T07:13:38Z</dcterms:created>
  <dcterms:modified xsi:type="dcterms:W3CDTF">2025-12-17T08:11:29Z</dcterms:modified>
</cp:coreProperties>
</file>