
<file path=[Content_Types].xml><?xml version="1.0" encoding="utf-8"?>
<Types xmlns="http://schemas.openxmlformats.org/package/2006/content-types">
  <Default Extension="bin" ContentType="image/unknown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318" r:id="rId7"/>
    <p:sldId id="275" r:id="rId8"/>
    <p:sldId id="262" r:id="rId9"/>
    <p:sldId id="319" r:id="rId10"/>
    <p:sldId id="320" r:id="rId11"/>
    <p:sldId id="321" r:id="rId12"/>
    <p:sldId id="267" r:id="rId13"/>
    <p:sldId id="268" r:id="rId14"/>
    <p:sldId id="311" r:id="rId15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754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F649A8-3ADF-4919-BCDF-FC2B8C6D828D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565D01-C0EA-4AC7-9B3B-E0E027DD3D1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93754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DAC318-8254-46BA-A728-CE0D5CF132E9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893503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10E1F35-929D-765C-467A-4EB9C76F5B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E474665B-C0FE-7AD0-3001-5D5CE00B65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E811377-9B6C-0621-C336-A07656D4B7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2B72-092A-4920-97DB-E512F709D449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D9DF1C5-15B5-3BED-A5A6-897E29EDEF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D2253FB-F2D2-4556-2549-707131B17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4F493-354B-4BAB-8F5E-B4428D4B27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19565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3E3589C-E88D-5415-008A-BAD82F5E16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87F7949-12AE-C460-548B-5416E36E52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A2E037B-AC54-CBCA-07A2-466171EA7E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2B72-092A-4920-97DB-E512F709D449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4900144-6504-A1C1-0CE8-BA6058A13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86F3982-C7AC-F6CA-9A6E-388C9C10C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4F493-354B-4BAB-8F5E-B4428D4B27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03081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CF6A5DD-A6E9-AA23-84B0-0CE55FAEDA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75D2D1A-15CC-5616-E7EA-36730B1856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A55851A-529A-125A-406C-69FA540E45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2B72-092A-4920-97DB-E512F709D449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CBFCC96-A979-6E9E-AF83-5D34FD1C8F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F8B0D22-E9DF-B5B3-E6EB-1B0D514201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4F493-354B-4BAB-8F5E-B4428D4B27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3638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41B6845-1F19-D333-FFEE-8C6E666D40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E251E57-5DB3-E4C0-FA5E-4BCE3E7671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EED838BE-D638-83E0-FE89-130BEAA1BF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850B08E-CCAA-B23D-75EE-8B4988038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2B72-092A-4920-97DB-E512F709D449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582C391-7EC4-3C50-5FB4-206AC91FB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B199268-E9E0-7F4B-7408-622EABC997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4F493-354B-4BAB-8F5E-B4428D4B27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910794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F2796DC-6363-DD7D-85D5-3D5224ADD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72377E9-E934-2755-B697-A61684ABE8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CB6FE72-480B-064E-924C-C7A001F5DA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4C464E76-7015-B4B1-BBF3-F10FAFA6D87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541AFABB-E161-F61F-A497-38C38414B2D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36ADD54E-A2A6-AF63-3CDF-0C4C834CC0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2B72-092A-4920-97DB-E512F709D449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AFC061BD-3AEA-E6B7-A8D9-FF8BA849AE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4F5EA164-1A57-8140-5C9A-4E695410B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4F493-354B-4BAB-8F5E-B4428D4B27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212399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F897F25-E0BD-4CAD-FFBB-28FE0F738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7D36750D-52D7-0527-B1EE-422224E5DA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2B72-092A-4920-97DB-E512F709D449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B56D0125-5DDD-B249-3206-99A51CA3A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6A090A2-27EB-8DB1-AAE2-868BE2C6D2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4F493-354B-4BAB-8F5E-B4428D4B27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71194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F94AC1DA-48A2-1795-F55C-173ABC295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2B72-092A-4920-97DB-E512F709D449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3A13315E-43CD-0798-67F6-07FA54B46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CF5A906-0A30-27B9-AE98-745B580B3E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4F493-354B-4BAB-8F5E-B4428D4B27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972370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08BBD47-7EE7-3107-688E-0A036A7B69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C19A806-5008-DE6A-8A7B-E181228C39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4707038-0F9F-320A-FE75-91B6F9F804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693B28E-0840-24FD-78BA-829BAAE763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2B72-092A-4920-97DB-E512F709D449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756E88D-2176-925A-DFCE-28E50201F0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86B644E-E0C4-DAE2-DFF4-4EF50E6F79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4F493-354B-4BAB-8F5E-B4428D4B27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69998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F99E9D3-1D8F-3F17-6C3B-2CFAD5D76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63567042-1BA2-6D2E-92D2-F12F4FED3D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635B05F-FCAA-CD25-D29E-565EC37B6C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4FAEC6E-E237-0743-FD54-F60775F25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2B72-092A-4920-97DB-E512F709D449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B6BA437-0BC0-2260-D389-5EB9BB082E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D90A50A-AC4D-BC6A-B8EE-644408568B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4F493-354B-4BAB-8F5E-B4428D4B27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180126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A4D1FBC-DCA3-8A45-5EA9-81D4594450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ADFE4B4A-1736-E23D-48AD-B56CB3A91E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23A1CFF-C4CA-8F77-7F55-3FA33946C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2B72-092A-4920-97DB-E512F709D449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C1A4BA0-865B-258F-0C89-4CC5500604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1205155-1B78-924A-9EF4-8D632F2E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4F493-354B-4BAB-8F5E-B4428D4B27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32681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F2C3D87B-7DDE-8736-2BFC-DC3C36C6D75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69A7D597-AB26-FD20-696B-4E90583195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98279B1-ECE4-4437-DBB3-44A327344E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62B72-092A-4920-97DB-E512F709D449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A17ECC4-0C89-4BC0-8D68-ED9308C594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B3835DD-3440-F9F4-2F29-20F6019268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4F493-354B-4BAB-8F5E-B4428D4B27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48642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7C02E22-4762-28A6-19B4-EABD31339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0C6122F-A985-01C4-F064-AEBCE5EE7A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A09FF9A-71B7-F89E-3EB0-7A47BBE937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062B72-092A-4920-97DB-E512F709D449}" type="datetimeFigureOut">
              <a:rPr lang="ru-RU" smtClean="0"/>
              <a:t>17.12.2025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F436BBA-7FB4-9D0B-3194-E9A2417BA3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2A42B97-3479-004B-38B8-E59F96D295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54F493-354B-4BAB-8F5E-B4428D4B27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49780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bin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bin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bin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bin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bin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bin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bin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bin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bin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bin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bin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bin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493"/>
            <a:ext cx="12192000" cy="6858001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0" y="-2493"/>
            <a:ext cx="12192000" cy="1323219"/>
          </a:xfrm>
        </p:spPr>
        <p:txBody>
          <a:bodyPr>
            <a:normAutofit/>
          </a:bodyPr>
          <a:lstStyle/>
          <a:p>
            <a:r>
              <a:rPr lang="ru-RU" sz="2000" dirty="0">
                <a:latin typeface="Times New Roman" panose="02020603050405020304"/>
                <a:cs typeface="Times New Roman" panose="02020603050405020304"/>
              </a:rPr>
              <a:t>МИНИСТЕРСТВО</a:t>
            </a:r>
            <a:r>
              <a:rPr lang="ru-RU" sz="2000" dirty="0">
                <a:latin typeface="Times New Roman" panose="02020603050405020304"/>
                <a:ea typeface="+mj-lt"/>
                <a:cs typeface="+mj-lt"/>
              </a:rPr>
              <a:t> НАУКИ И ВЫСШЕГО ОБРАЗОВАНИЯ</a:t>
            </a:r>
            <a:endParaRPr lang="ru-RU" sz="2000" dirty="0">
              <a:latin typeface="Times New Roman" panose="02020603050405020304"/>
              <a:cs typeface="Times New Roman" panose="02020603050405020304"/>
            </a:endParaRPr>
          </a:p>
          <a:p>
            <a:r>
              <a:rPr lang="ru-RU" sz="2000" dirty="0">
                <a:latin typeface="Times New Roman" panose="02020603050405020304"/>
                <a:ea typeface="+mj-lt"/>
                <a:cs typeface="+mj-lt"/>
              </a:rPr>
              <a:t>РОССИЙСКОЙ ФЕДЕРАЦИИ</a:t>
            </a:r>
            <a:br>
              <a:rPr lang="ru-RU" sz="2000" dirty="0">
                <a:latin typeface="Times New Roman" panose="02020603050405020304"/>
                <a:ea typeface="+mj-lt"/>
                <a:cs typeface="+mj-lt"/>
              </a:rPr>
            </a:br>
            <a:r>
              <a:rPr lang="ru-RU" sz="2000" dirty="0">
                <a:latin typeface="Times New Roman" panose="02020603050405020304"/>
                <a:ea typeface="+mj-lt"/>
                <a:cs typeface="+mj-lt"/>
              </a:rPr>
              <a:t> </a:t>
            </a:r>
            <a:endParaRPr lang="ru-RU" sz="2000" dirty="0">
              <a:latin typeface="Times New Roman" panose="02020603050405020304"/>
              <a:cs typeface="Times New Roman" panose="02020603050405020304"/>
            </a:endParaRPr>
          </a:p>
          <a:p>
            <a:r>
              <a:rPr lang="ru-RU" sz="2000" dirty="0">
                <a:latin typeface="Times New Roman" panose="02020603050405020304"/>
                <a:ea typeface="+mj-lt"/>
                <a:cs typeface="+mj-lt"/>
              </a:rPr>
              <a:t>МОСКОВСКИЙ ГОСУДАРСТВЕННЫЙ УНИВЕРСИТЕТ ГЕОДЕЗИИ И КАРТОГРАФИИ (МИИГАИК)</a:t>
            </a:r>
            <a:endParaRPr lang="ru-RU" sz="2000" dirty="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5361709" y="4042064"/>
            <a:ext cx="6830291" cy="2067791"/>
          </a:xfrm>
        </p:spPr>
        <p:txBody>
          <a:bodyPr vert="horz" lIns="91440" tIns="45720" rIns="91440" bIns="45720" rtlCol="0" anchor="t">
            <a:normAutofit fontScale="25000" lnSpcReduction="20000"/>
          </a:bodyPr>
          <a:lstStyle/>
          <a:p>
            <a:pPr algn="r"/>
            <a:r>
              <a:rPr lang="ru-RU" sz="6400" dirty="0">
                <a:latin typeface="Times New Roman" panose="02020603050405020304"/>
                <a:ea typeface="+mn-lt"/>
                <a:cs typeface="+mn-lt"/>
              </a:rPr>
              <a:t>Научный руководитель: </a:t>
            </a:r>
            <a:endParaRPr lang="ru-RU" sz="6400" dirty="0">
              <a:latin typeface="Times New Roman" panose="02020603050405020304"/>
              <a:cs typeface="Times New Roman" panose="02020603050405020304"/>
            </a:endParaRPr>
          </a:p>
          <a:p>
            <a:pPr algn="r"/>
            <a:r>
              <a:rPr lang="en-US" sz="640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преподаватель</a:t>
            </a:r>
            <a:r>
              <a:rPr lang="en-US" sz="64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640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кафедры</a:t>
            </a:r>
            <a:r>
              <a:rPr lang="en-US" sz="64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</a:p>
          <a:p>
            <a:pPr algn="r"/>
            <a:r>
              <a:rPr lang="en-US" sz="6400" dirty="0" err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информати</a:t>
            </a:r>
            <a:r>
              <a:rPr lang="en-US" sz="6400" dirty="0" err="1">
                <a:latin typeface="Times New Roman"/>
                <a:ea typeface="Times New Roman"/>
                <a:cs typeface="Times New Roman"/>
                <a:sym typeface="Times New Roman"/>
              </a:rPr>
              <a:t>ки</a:t>
            </a:r>
            <a:r>
              <a:rPr lang="en-US" sz="6400" dirty="0">
                <a:latin typeface="Times New Roman"/>
                <a:ea typeface="Times New Roman"/>
                <a:cs typeface="Times New Roman"/>
                <a:sym typeface="Times New Roman"/>
              </a:rPr>
              <a:t> и </a:t>
            </a:r>
            <a:r>
              <a:rPr lang="en-US" sz="6400" dirty="0" err="1">
                <a:latin typeface="Times New Roman"/>
                <a:ea typeface="Times New Roman"/>
                <a:cs typeface="Times New Roman"/>
                <a:sym typeface="Times New Roman"/>
              </a:rPr>
              <a:t>геоинформационных</a:t>
            </a:r>
            <a:r>
              <a:rPr lang="en-US" sz="64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</a:p>
          <a:p>
            <a:pPr algn="r"/>
            <a:r>
              <a:rPr lang="en-US" sz="6400" dirty="0" err="1">
                <a:latin typeface="Times New Roman"/>
                <a:ea typeface="Times New Roman"/>
                <a:cs typeface="Times New Roman"/>
                <a:sym typeface="Times New Roman"/>
              </a:rPr>
              <a:t>технологий</a:t>
            </a:r>
            <a:endParaRPr lang="en-US" sz="64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r"/>
            <a:r>
              <a:rPr lang="ru-RU" sz="6400" dirty="0">
                <a:latin typeface="Times New Roman" panose="02020603050405020304"/>
                <a:ea typeface="+mn-lt"/>
                <a:cs typeface="+mn-lt"/>
              </a:rPr>
              <a:t>Лебедев Евгений Денисович</a:t>
            </a:r>
            <a:endParaRPr lang="ru-RU" sz="6400" dirty="0">
              <a:latin typeface="Times New Roman" panose="02020603050405020304"/>
              <a:cs typeface="Times New Roman" panose="02020603050405020304"/>
            </a:endParaRPr>
          </a:p>
          <a:p>
            <a:pPr algn="r"/>
            <a:endParaRPr lang="ru-RU" sz="6400" dirty="0">
              <a:latin typeface="Times New Roman" panose="02020603050405020304"/>
              <a:cs typeface="Times New Roman" panose="02020603050405020304"/>
            </a:endParaRPr>
          </a:p>
          <a:p>
            <a:pPr algn="r"/>
            <a:r>
              <a:rPr lang="ru-RU" sz="6400" dirty="0">
                <a:latin typeface="Times New Roman" panose="02020603050405020304"/>
                <a:ea typeface="+mn-lt"/>
                <a:cs typeface="+mn-lt"/>
              </a:rPr>
              <a:t>Выполнил студент 2022-ФГиИБ-ПИ-1Б</a:t>
            </a:r>
            <a:endParaRPr lang="ru-RU" sz="6400" dirty="0">
              <a:latin typeface="Times New Roman" panose="02020603050405020304"/>
              <a:cs typeface="Times New Roman" panose="02020603050405020304"/>
            </a:endParaRPr>
          </a:p>
          <a:p>
            <a:pPr algn="r"/>
            <a:r>
              <a:rPr lang="ru-RU" sz="6400" dirty="0" err="1">
                <a:latin typeface="Times New Roman" panose="02020603050405020304"/>
                <a:cs typeface="Times New Roman" panose="02020603050405020304"/>
              </a:rPr>
              <a:t>Угурлиев</a:t>
            </a:r>
            <a:r>
              <a:rPr lang="ru-RU" sz="6400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lang="ru-RU" sz="6400" dirty="0" err="1">
                <a:latin typeface="Times New Roman" panose="02020603050405020304"/>
                <a:cs typeface="Times New Roman" panose="02020603050405020304"/>
              </a:rPr>
              <a:t>Агамир</a:t>
            </a:r>
            <a:r>
              <a:rPr lang="ru-RU" sz="6400" dirty="0">
                <a:latin typeface="Times New Roman" panose="02020603050405020304"/>
                <a:cs typeface="Times New Roman" panose="02020603050405020304"/>
              </a:rPr>
              <a:t> Мирза </a:t>
            </a:r>
            <a:r>
              <a:rPr lang="ru-RU" sz="6400" dirty="0" err="1">
                <a:latin typeface="Times New Roman" panose="02020603050405020304"/>
                <a:cs typeface="Times New Roman" panose="02020603050405020304"/>
              </a:rPr>
              <a:t>оглы</a:t>
            </a:r>
            <a:endParaRPr lang="ru-RU" sz="6400" dirty="0">
              <a:latin typeface="Times New Roman" panose="02020603050405020304"/>
              <a:cs typeface="Times New Roman" panose="02020603050405020304"/>
            </a:endParaRPr>
          </a:p>
          <a:p>
            <a:pPr algn="r"/>
            <a:endParaRPr lang="ru-RU" sz="1800" dirty="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62839" y="1471220"/>
            <a:ext cx="11874673" cy="215443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spAutoFit/>
          </a:bodyPr>
          <a:lstStyle/>
          <a:p>
            <a:pPr algn="ctr"/>
            <a:r>
              <a:rPr lang="ru-RU" dirty="0">
                <a:latin typeface="Times New Roman" panose="02020603050405020304" charset="0"/>
                <a:cs typeface="Times New Roman" panose="02020603050405020304" charset="0"/>
              </a:rPr>
              <a:t>Факультет геоинформатики и информационной безопасности</a:t>
            </a:r>
          </a:p>
          <a:p>
            <a:pPr algn="ctr"/>
            <a:r>
              <a:rPr lang="ru-RU" sz="2000" dirty="0">
                <a:latin typeface="Times New Roman" panose="02020603050405020304" charset="0"/>
                <a:cs typeface="Times New Roman" panose="02020603050405020304" charset="0"/>
              </a:rPr>
              <a:t>Кафедра информатики и геоинформационных технологий</a:t>
            </a:r>
          </a:p>
          <a:p>
            <a:pPr algn="ctr"/>
            <a:endParaRPr lang="ru-RU" sz="2000" dirty="0">
              <a:latin typeface="Times New Roman" panose="02020603050405020304" charset="0"/>
              <a:cs typeface="Times New Roman" panose="02020603050405020304" charset="0"/>
            </a:endParaRPr>
          </a:p>
          <a:p>
            <a:pPr algn="ctr"/>
            <a:endParaRPr lang="ru-RU" sz="2000" dirty="0">
              <a:latin typeface="Times New Roman" panose="02020603050405020304" charset="0"/>
              <a:cs typeface="Times New Roman" panose="02020603050405020304" charset="0"/>
            </a:endParaRPr>
          </a:p>
          <a:p>
            <a:pPr algn="ctr"/>
            <a:r>
              <a:rPr lang="ru-RU" sz="2000" b="1" dirty="0">
                <a:latin typeface="Times New Roman" panose="02020603050405020304" charset="0"/>
                <a:cs typeface="Times New Roman" panose="02020603050405020304" charset="0"/>
              </a:rPr>
              <a:t>ВЫПУСКНАЯ КВАЛИФИКАЦИОННАЯ РАБОТА</a:t>
            </a:r>
          </a:p>
          <a:p>
            <a:pPr algn="ctr"/>
            <a:endParaRPr lang="ru-RU" b="1" dirty="0">
              <a:latin typeface="Times New Roman" panose="02020603050405020304" charset="0"/>
              <a:cs typeface="Times New Roman" panose="02020603050405020304" charset="0"/>
            </a:endParaRPr>
          </a:p>
          <a:p>
            <a:pPr algn="ctr"/>
            <a:r>
              <a:rPr lang="ru-RU" dirty="0">
                <a:latin typeface="Times New Roman" panose="02020603050405020304" charset="0"/>
                <a:cs typeface="Times New Roman" panose="02020603050405020304" charset="0"/>
              </a:rPr>
              <a:t>на тему: </a:t>
            </a:r>
            <a:r>
              <a:rPr lang="ru-RU" b="1" dirty="0">
                <a:latin typeface="Times New Roman" panose="02020603050405020304" charset="0"/>
                <a:cs typeface="Times New Roman" panose="02020603050405020304" charset="0"/>
              </a:rPr>
              <a:t>«Разработка карточной игры на </a:t>
            </a:r>
            <a:r>
              <a:rPr lang="ru-RU" b="1" dirty="0" err="1">
                <a:latin typeface="Times New Roman" panose="02020603050405020304" charset="0"/>
                <a:cs typeface="Times New Roman" panose="02020603050405020304" charset="0"/>
              </a:rPr>
              <a:t>Unity</a:t>
            </a:r>
            <a:r>
              <a:rPr lang="ru-RU" b="1" dirty="0">
                <a:latin typeface="Times New Roman" panose="02020603050405020304" charset="0"/>
                <a:cs typeface="Times New Roman" panose="02020603050405020304" charset="0"/>
              </a:rPr>
              <a:t> с реализацией ИИ-оппонента»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52890" y="6386989"/>
            <a:ext cx="2842380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spAutoFit/>
          </a:bodyPr>
          <a:lstStyle/>
          <a:p>
            <a:pPr algn="ctr"/>
            <a:r>
              <a:rPr lang="ru-RU" sz="1600" dirty="0">
                <a:latin typeface="Times New Roman" panose="02020603050405020304"/>
                <a:cs typeface="Times New Roman" panose="02020603050405020304"/>
              </a:rPr>
              <a:t>Москва,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10" y="0"/>
            <a:ext cx="12192000" cy="6858000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510" y="1"/>
            <a:ext cx="12192000" cy="10287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/>
                <a:cs typeface="Times New Roman" panose="02020603050405020304"/>
              </a:rPr>
              <a:t>Актуальность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09203" y="1500159"/>
            <a:ext cx="11773593" cy="4570441"/>
          </a:xfrm>
        </p:spPr>
        <p:txBody>
          <a:bodyPr vert="horz" lIns="91440" tIns="45720" rIns="91440" bIns="45720" rtlCol="0" anchor="t">
            <a:normAutofit fontScale="40000" lnSpcReduction="20000"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ru-RU" dirty="0">
                <a:latin typeface="Times New Roman" panose="02020603050405020304"/>
                <a:ea typeface="+mn-lt"/>
                <a:cs typeface="+mn-lt"/>
              </a:rPr>
              <a:t>	</a:t>
            </a:r>
            <a:r>
              <a:rPr lang="ru-RU" sz="5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Актуальность темы обусловлена высоким интересом аудитории к жанру карточных стратегий. Однако анализ рынка показал существенный недостаток в сегменте инди-разработки: большинство проектов либо чрезмерно упрощены (</a:t>
            </a:r>
            <a:r>
              <a:rPr lang="ru-RU" sz="5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казуальны</a:t>
            </a:r>
            <a:r>
              <a:rPr lang="ru-RU" sz="5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), либо, напротив, обладают критически высоким порогом входа, требуя от игрока изучения десятков страниц правил.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ru-RU" sz="5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Проект </a:t>
            </a:r>
            <a:r>
              <a:rPr lang="ru-RU" sz="5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Diceville</a:t>
            </a:r>
            <a:r>
              <a:rPr lang="ru-RU" sz="5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решает эту проблему, занимая свободную нишу. Мы совместили интуитивную понятность классических настольных игр (низкий порог входа) с глубокой вариативностью геймплея. Высокая </a:t>
            </a:r>
            <a:r>
              <a:rPr lang="ru-RU" sz="5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реиграбельность</a:t>
            </a:r>
            <a:r>
              <a:rPr lang="ru-RU" sz="5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достигается за счет гибридной механики: сочетания карточной колоды, генерации случайных чисел (кубиков) и умного ИИ-оппонента.</a:t>
            </a:r>
            <a:endParaRPr lang="ru-RU" sz="55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z="2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fld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5011" cy="89570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89162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/>
                <a:ea typeface="+mj-lt"/>
                <a:cs typeface="+mj-lt"/>
              </a:rPr>
              <a:t>Цели и задачи</a:t>
            </a:r>
            <a:endParaRPr lang="ru-RU" dirty="0">
              <a:latin typeface="Times New Roman" panose="020206030504050203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31767" y="1093371"/>
            <a:ext cx="11105804" cy="230832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spAutoFit/>
          </a:bodyPr>
          <a:lstStyle/>
          <a:p>
            <a:pPr algn="just"/>
            <a:r>
              <a:rPr lang="ru-RU" sz="2400" b="1" dirty="0">
                <a:latin typeface="Times New Roman" panose="02020603050405020304"/>
                <a:cs typeface="Times New Roman" panose="02020603050405020304"/>
              </a:rPr>
              <a:t>Цель</a:t>
            </a:r>
            <a:r>
              <a:rPr lang="ru-RU" sz="2400" dirty="0">
                <a:latin typeface="Times New Roman" panose="02020603050405020304"/>
                <a:cs typeface="Times New Roman" panose="02020603050405020304"/>
              </a:rPr>
              <a:t>: Разработать карточную игру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«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Diceville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» на движке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Unity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sz="2400" dirty="0">
              <a:latin typeface="Times New Roman" panose="02020603050405020304" pitchFamily="18" charset="0"/>
              <a:ea typeface="+mn-lt"/>
              <a:cs typeface="Times New Roman" panose="02020603050405020304" pitchFamily="18" charset="0"/>
            </a:endParaRPr>
          </a:p>
          <a:p>
            <a:pPr algn="just"/>
            <a:r>
              <a:rPr lang="ru-RU" sz="2400" b="1" dirty="0">
                <a:latin typeface="Times New Roman" panose="02020603050405020304"/>
                <a:cs typeface="Times New Roman" panose="02020603050405020304"/>
              </a:rPr>
              <a:t>Задачи</a:t>
            </a:r>
            <a:r>
              <a:rPr lang="ru-RU" sz="2400" dirty="0">
                <a:latin typeface="Times New Roman" panose="02020603050405020304"/>
                <a:cs typeface="Times New Roman" panose="02020603050405020304"/>
              </a:rPr>
              <a:t>:</a:t>
            </a:r>
          </a:p>
          <a:p>
            <a:pPr marL="342900" indent="-342900" algn="just">
              <a:buFont typeface="Arial" panose="020B0604020202020204"/>
              <a:buChar char="•"/>
            </a:pPr>
            <a:r>
              <a:rPr lang="ru-RU" sz="2400" dirty="0">
                <a:latin typeface="Times New Roman" panose="02020603050405020304"/>
                <a:ea typeface="+mn-lt"/>
                <a:cs typeface="Times New Roman" panose="02020603050405020304"/>
              </a:rPr>
              <a:t>Провести обзор имеющихся аналогов</a:t>
            </a:r>
          </a:p>
          <a:p>
            <a:pPr marL="342900" indent="-342900" algn="just">
              <a:buFont typeface="Arial" panose="020B0604020202020204"/>
              <a:buChar char="•"/>
            </a:pPr>
            <a:r>
              <a:rPr lang="ru-RU" sz="2400" dirty="0">
                <a:latin typeface="Times New Roman" panose="02020603050405020304"/>
                <a:ea typeface="+mn-lt"/>
                <a:cs typeface="+mn-lt"/>
              </a:rPr>
              <a:t>Проектирование архитектуры (UML) и логики взаимодействия компонентов.</a:t>
            </a:r>
          </a:p>
          <a:p>
            <a:pPr marL="342900" indent="-342900" algn="just">
              <a:buFont typeface="Arial" panose="020B0604020202020204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модуля ИИ и игровых механик на движке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Unity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Arial" panose="020B0604020202020204"/>
              <a:buChar char="•"/>
            </a:pPr>
            <a:r>
              <a:rPr lang="ru-RU" sz="2400" dirty="0">
                <a:latin typeface="Times New Roman" panose="02020603050405020304"/>
                <a:ea typeface="+mn-lt"/>
                <a:cs typeface="+mn-lt"/>
              </a:rPr>
              <a:t>Оптимизация UI/UX и проведение комплексного тестирования</a:t>
            </a:r>
          </a:p>
        </p:txBody>
      </p: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/>
        <p:txBody>
          <a:bodyPr vert="horz" lIns="91440" tIns="45720" rIns="91440" bIns="45720" rtlCol="0" anchor="ctr"/>
          <a:lstStyle/>
          <a:p>
            <a:fld id="{285DC19C-03DA-4066-9FF7-D0BF1BC6D6F6}" type="slidenum">
              <a:rPr lang="ru-RU" sz="240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fld>
            <a:endParaRPr lang="ru-RU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5011" cy="89570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837909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charset="0"/>
                <a:ea typeface="+mj-lt"/>
                <a:cs typeface="Times New Roman" panose="02020603050405020304" charset="0"/>
              </a:rPr>
              <a:t>Сравнение аналогов</a:t>
            </a:r>
          </a:p>
        </p:txBody>
      </p: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8610600" y="6393986"/>
            <a:ext cx="2743200" cy="365125"/>
          </a:xfrm>
        </p:spPr>
        <p:txBody>
          <a:bodyPr vert="horz" lIns="91440" tIns="45720" rIns="91440" bIns="45720" rtlCol="0" anchor="ctr"/>
          <a:lstStyle/>
          <a:p>
            <a:fld id="{285DC19C-03DA-4066-9FF7-D0BF1BC6D6F6}" type="slidenum">
              <a:rPr lang="ru-RU" sz="240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fld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Объект 7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just">
              <a:lnSpc>
                <a:spcPct val="150000"/>
              </a:lnSpc>
              <a:buNone/>
            </a:pPr>
            <a:r>
              <a:rPr lang="ru-RU" dirty="0">
                <a:ea typeface="+mn-lt"/>
                <a:cs typeface="+mn-lt"/>
              </a:rPr>
              <a:t> </a:t>
            </a:r>
            <a:endParaRPr lang="ru-RU" dirty="0">
              <a:latin typeface="Times New Roman" panose="02020603050405020304"/>
              <a:ea typeface="+mn-lt"/>
              <a:cs typeface="+mn-lt"/>
            </a:endParaRPr>
          </a:p>
        </p:txBody>
      </p:sp>
      <p:sp>
        <p:nvSpPr>
          <p:cNvPr id="6" name="Text Box 5"/>
          <p:cNvSpPr txBox="1"/>
          <p:nvPr/>
        </p:nvSpPr>
        <p:spPr>
          <a:xfrm>
            <a:off x="314648" y="656085"/>
            <a:ext cx="74943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altLang="en-US" sz="2000" dirty="0">
                <a:latin typeface="Times New Roman" panose="02020603050405020304" charset="0"/>
                <a:cs typeface="Times New Roman" panose="02020603050405020304" charset="0"/>
              </a:rPr>
              <a:t>Таблица 1. Сравнительный анализ</a:t>
            </a:r>
            <a:endParaRPr lang="ru-RU" altLang="en-US" sz="2000" dirty="0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5011" cy="895703"/>
          </a:xfrm>
          <a:prstGeom prst="rect">
            <a:avLst/>
          </a:prstGeom>
        </p:spPr>
      </p:pic>
      <p:graphicFrame>
        <p:nvGraphicFramePr>
          <p:cNvPr id="10" name="Table 3">
            <a:extLst>
              <a:ext uri="{FF2B5EF4-FFF2-40B4-BE49-F238E27FC236}">
                <a16:creationId xmlns:a16="http://schemas.microsoft.com/office/drawing/2014/main" id="{63D66644-FDF0-41BC-A8FD-A37444898A5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74821882"/>
              </p:ext>
            </p:extLst>
          </p:nvPr>
        </p:nvGraphicFramePr>
        <p:xfrm>
          <a:off x="381972" y="1085175"/>
          <a:ext cx="11276627" cy="547554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5146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960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553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553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55325">
                  <a:extLst>
                    <a:ext uri="{9D8B030D-6E8A-4147-A177-3AD203B41FA5}">
                      <a16:colId xmlns:a16="http://schemas.microsoft.com/office/drawing/2014/main" val="3034312804"/>
                    </a:ext>
                  </a:extLst>
                </a:gridCol>
              </a:tblGrid>
              <a:tr h="45699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ru-RU" altLang="en-US" sz="2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en-US" sz="2200" b="0" i="0" kern="1200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Balatro</a:t>
                      </a:r>
                      <a:endParaRPr lang="en-US" sz="22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Battle of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Polytopia</a:t>
                      </a:r>
                      <a:endParaRPr lang="en-US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Victoria 3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Diceville</a:t>
                      </a:r>
                      <a:endParaRPr lang="en-US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8553"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ru-RU" sz="2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Основная роль случайности в </a:t>
                      </a:r>
                      <a:r>
                        <a:rPr lang="ru-RU" sz="2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реиграбельности</a:t>
                      </a:r>
                      <a:r>
                        <a:rPr lang="ru-RU" sz="2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игры</a:t>
                      </a:r>
                      <a:endParaRPr lang="en-US" sz="2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en-US" sz="3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en-US" sz="3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en-US" sz="3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8553"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ru-RU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Доступный порог входа</a:t>
                      </a:r>
                      <a:endParaRPr lang="ru-RU" altLang="en-US" sz="22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en-US" sz="3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en-US" sz="3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en-US" sz="3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6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17106"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ru-RU" altLang="en-US" sz="2200" baseline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Реализация ИИ-оппонента</a:t>
                      </a:r>
                      <a:endParaRPr lang="ru-RU" altLang="en-US" sz="2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ru-RU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Отсутствует</a:t>
                      </a:r>
                      <a:endParaRPr 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ru-RU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Базовый алгоритм экспансии</a:t>
                      </a:r>
                      <a:endParaRPr 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ru-RU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Сложная симуляция государств</a:t>
                      </a:r>
                      <a:endParaRPr 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ru-RU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Гибридный ИИ</a:t>
                      </a:r>
                      <a:endParaRPr 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96382"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ru-RU" sz="2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Визуальная эргономика (</a:t>
                      </a:r>
                      <a:r>
                        <a:rPr lang="en-US" sz="2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UI)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ru-RU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Стилизация под ретро, простой и понятный</a:t>
                      </a:r>
                      <a:endParaRPr 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ru-RU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Минималистичный </a:t>
                      </a:r>
                      <a:r>
                        <a:rPr lang="en-US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Low-poly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ru-RU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Перегруженность вложенными меню</a:t>
                      </a:r>
                      <a:endParaRPr 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ru-RU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Простой интерфейс понятными цветовыми индикациями</a:t>
                      </a:r>
                      <a:endParaRPr 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525"/>
            <a:ext cx="12192000" cy="6858000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48"/>
            <a:ext cx="12192000" cy="1046434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/>
                <a:ea typeface="+mj-lt"/>
                <a:cs typeface="+mj-lt"/>
              </a:rPr>
              <a:t>Используемые технологии</a:t>
            </a:r>
            <a:endParaRPr lang="ru-RU" dirty="0">
              <a:latin typeface="Times New Roman" panose="02020603050405020304"/>
            </a:endParaRPr>
          </a:p>
        </p:txBody>
      </p:sp>
      <p:graphicFrame>
        <p:nvGraphicFramePr>
          <p:cNvPr id="4" name="Объект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20182783"/>
              </p:ext>
            </p:extLst>
          </p:nvPr>
        </p:nvGraphicFramePr>
        <p:xfrm>
          <a:off x="444497" y="1414781"/>
          <a:ext cx="11315702" cy="320039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6578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578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08392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ru-RU" sz="1800" b="1" u="none" strike="noStrike" noProof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Инструмент</a:t>
                      </a:r>
                      <a:endParaRPr lang="ru-RU" sz="1800" b="1" i="0" u="none" strike="noStrike" noProof="0" dirty="0">
                        <a:solidFill>
                          <a:srgbClr val="FFFFFF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182879" marB="1828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Используемая технология</a:t>
                      </a:r>
                    </a:p>
                  </a:txBody>
                  <a:tcPr marT="182879" marB="1828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8392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ru-RU" sz="18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Игровой движок</a:t>
                      </a:r>
                      <a:endParaRPr lang="ru-RU" sz="1800" b="1" i="0" u="none" strike="noStrike" noProof="0" dirty="0">
                        <a:solidFill>
                          <a:srgbClr val="FFFFFF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182879" marB="1828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Unity</a:t>
                      </a:r>
                      <a:endParaRPr lang="ru-RU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182879" marB="1828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1690621"/>
                  </a:ext>
                </a:extLst>
              </a:tr>
              <a:tr h="608392"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Фреймворк</a:t>
                      </a:r>
                      <a:endParaRPr lang="ru-RU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182879" marB="1828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Zenject</a:t>
                      </a:r>
                      <a:endParaRPr lang="ru-RU" sz="1800" dirty="0" err="1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182879" marB="1828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8392"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Язык программирования</a:t>
                      </a:r>
                      <a:endParaRPr lang="ru-RU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182879" marB="1828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C#</a:t>
                      </a:r>
                      <a:endParaRPr lang="ru-RU" sz="1800" dirty="0" err="1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182879" marB="1828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8393">
                <a:tc>
                  <a:txBody>
                    <a:bodyPr/>
                    <a:lstStyle/>
                    <a:p>
                      <a:pPr algn="ctr"/>
                      <a:r>
                        <a:rPr lang="ru-RU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IDE</a:t>
                      </a:r>
                      <a:endParaRPr lang="ru-RU" sz="18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182879" marB="1828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Visual Studio/Visual Studio Code</a:t>
                      </a:r>
                      <a:endParaRPr lang="ru-RU" sz="18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T="182880" marB="18288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/>
        <p:txBody>
          <a:bodyPr vert="horz" lIns="91440" tIns="45720" rIns="91440" bIns="45720" rtlCol="0" anchor="ctr"/>
          <a:lstStyle/>
          <a:p>
            <a:fld id="{285DC19C-03DA-4066-9FF7-D0BF1BC6D6F6}" type="slidenum">
              <a:rPr lang="ru-RU" sz="240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fld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Box 4"/>
          <p:cNvSpPr txBox="1"/>
          <p:nvPr/>
        </p:nvSpPr>
        <p:spPr>
          <a:xfrm>
            <a:off x="353268" y="1030577"/>
            <a:ext cx="80168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latin typeface="Times New Roman" panose="02020603050405020304" charset="0"/>
                <a:cs typeface="Times New Roman" panose="02020603050405020304" charset="0"/>
              </a:rPr>
              <a:t>Таблица</a:t>
            </a:r>
            <a:r>
              <a:rPr lang="en-US" sz="2000" dirty="0">
                <a:latin typeface="Times New Roman" panose="02020603050405020304" charset="0"/>
                <a:cs typeface="Times New Roman" panose="02020603050405020304" charset="0"/>
              </a:rPr>
              <a:t> </a:t>
            </a:r>
            <a:r>
              <a:rPr lang="ru-RU" altLang="en-US" sz="2000" dirty="0">
                <a:latin typeface="Times New Roman" panose="02020603050405020304" charset="0"/>
                <a:cs typeface="Times New Roman" panose="02020603050405020304" charset="0"/>
              </a:rPr>
              <a:t>2</a:t>
            </a:r>
            <a:r>
              <a:rPr lang="en-US" sz="2000" dirty="0">
                <a:latin typeface="Times New Roman" panose="02020603050405020304" charset="0"/>
                <a:cs typeface="Times New Roman" panose="02020603050405020304" charset="0"/>
              </a:rPr>
              <a:t>. </a:t>
            </a:r>
            <a:r>
              <a:rPr lang="ru-RU" altLang="en-US" sz="2000" dirty="0">
                <a:latin typeface="Times New Roman" panose="02020603050405020304" charset="0"/>
                <a:cs typeface="Times New Roman" panose="02020603050405020304" charset="0"/>
              </a:rPr>
              <a:t>Перечень используемых инструментов</a:t>
            </a: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5011" cy="89570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34033"/>
            <a:ext cx="12191999" cy="967217"/>
          </a:xfrm>
        </p:spPr>
        <p:txBody>
          <a:bodyPr>
            <a:normAutofit fontScale="90000"/>
          </a:bodyPr>
          <a:lstStyle/>
          <a:p>
            <a:pPr algn="ctr"/>
            <a:r>
              <a:rPr lang="ru-RU" dirty="0">
                <a:latin typeface="Times New Roman" panose="02020603050405020304"/>
                <a:cs typeface="Times New Roman" panose="02020603050405020304"/>
              </a:rPr>
              <a:t>Диаграмма вариантов </a:t>
            </a:r>
            <a:br>
              <a:rPr lang="ru-RU" dirty="0">
                <a:latin typeface="Times New Roman" panose="02020603050405020304"/>
                <a:cs typeface="Times New Roman" panose="02020603050405020304"/>
              </a:rPr>
            </a:br>
            <a:r>
              <a:rPr lang="ru-RU" dirty="0">
                <a:latin typeface="Times New Roman" panose="02020603050405020304"/>
                <a:cs typeface="Times New Roman" panose="02020603050405020304"/>
              </a:rPr>
              <a:t>использования</a:t>
            </a:r>
          </a:p>
        </p:txBody>
      </p: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0801865" y="6281781"/>
            <a:ext cx="593124" cy="365125"/>
          </a:xfrm>
        </p:spPr>
        <p:txBody>
          <a:bodyPr vert="horz" lIns="91440" tIns="45720" rIns="91440" bIns="45720" rtlCol="0" anchor="ctr"/>
          <a:lstStyle/>
          <a:p>
            <a:fld id="{285DC19C-03DA-4066-9FF7-D0BF1BC6D6F6}" type="slidenum">
              <a:rPr lang="ru-RU" sz="240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fld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5011" cy="89570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439257" y="5991225"/>
            <a:ext cx="53134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Рисунок 1 – Диаграмма вариантов использования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4342DA1-4C85-41A3-B902-5D7F8E21C7C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74" y="1107853"/>
            <a:ext cx="12179926" cy="4311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50836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9779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/>
                <a:ea typeface="+mj-lt"/>
                <a:cs typeface="+mj-lt"/>
              </a:rPr>
              <a:t>Диаграмма компонентов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>
          <a:xfrm>
            <a:off x="10760676" y="6291263"/>
            <a:ext cx="593124" cy="365125"/>
          </a:xfrm>
        </p:spPr>
        <p:txBody>
          <a:bodyPr vert="horz" lIns="91440" tIns="45720" rIns="91440" bIns="45720" rtlCol="0" anchor="ctr"/>
          <a:lstStyle/>
          <a:p>
            <a:fld id="{285DC19C-03DA-4066-9FF7-D0BF1BC6D6F6}" type="slidenum">
              <a:rPr lang="ru-RU" sz="240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fld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5011" cy="89570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824653" y="6126867"/>
            <a:ext cx="4229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Рисунок 2 – Диаграмма компонентов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48DE36EB-627E-4A08-AB9E-A961BB614D2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85173"/>
            <a:ext cx="12192000" cy="368765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-1"/>
            <a:ext cx="12191999" cy="6857999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-4758"/>
            <a:ext cx="12191999" cy="967217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/>
                <a:cs typeface="Times New Roman" panose="02020603050405020304"/>
              </a:rPr>
              <a:t>Диаграмма классов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5011" cy="89570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977051" y="6434733"/>
            <a:ext cx="42378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Рисунок 3 – Диаграмма классов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7E55D68-EE83-4581-9E0F-FC357AF41C2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" y="709554"/>
            <a:ext cx="12192000" cy="5825133"/>
          </a:xfrm>
          <a:prstGeom prst="rect">
            <a:avLst/>
          </a:prstGeom>
        </p:spPr>
      </p:pic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0801865" y="6281781"/>
            <a:ext cx="593124" cy="365125"/>
          </a:xfrm>
        </p:spPr>
        <p:txBody>
          <a:bodyPr vert="horz" lIns="91440" tIns="45720" rIns="91440" bIns="45720" rtlCol="0" anchor="ctr"/>
          <a:lstStyle/>
          <a:p>
            <a:fld id="{285DC19C-03DA-4066-9FF7-D0BF1BC6D6F6}" type="slidenum">
              <a:rPr lang="ru-RU" sz="240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fld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-1"/>
            <a:ext cx="12191999" cy="6857999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-4758"/>
            <a:ext cx="12191999" cy="967217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/>
                <a:cs typeface="Times New Roman" panose="02020603050405020304"/>
              </a:rPr>
              <a:t>Диаграмма классов</a:t>
            </a:r>
          </a:p>
        </p:txBody>
      </p:sp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0801865" y="6281781"/>
            <a:ext cx="593124" cy="365125"/>
          </a:xfrm>
        </p:spPr>
        <p:txBody>
          <a:bodyPr vert="horz" lIns="91440" tIns="45720" rIns="91440" bIns="45720" rtlCol="0" anchor="ctr"/>
          <a:lstStyle/>
          <a:p>
            <a:fld id="{285DC19C-03DA-4066-9FF7-D0BF1BC6D6F6}" type="slidenum">
              <a:rPr lang="ru-RU" sz="240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fld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5011" cy="89570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977051" y="6434733"/>
            <a:ext cx="42378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Рисунок 3 – Диаграмма классов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7E55D68-EE83-4581-9E0F-FC357AF41C2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6656" r="43000"/>
          <a:stretch/>
        </p:blipFill>
        <p:spPr>
          <a:xfrm>
            <a:off x="947150" y="747344"/>
            <a:ext cx="10297699" cy="5467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0692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-1"/>
            <a:ext cx="12191999" cy="6857999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-4758"/>
            <a:ext cx="12191999" cy="967217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/>
                <a:cs typeface="Times New Roman" panose="02020603050405020304"/>
              </a:rPr>
              <a:t>Диаграмма классов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5011" cy="895703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7E55D68-EE83-4581-9E0F-FC357AF41C2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882" b="15870"/>
          <a:stretch/>
        </p:blipFill>
        <p:spPr>
          <a:xfrm>
            <a:off x="2219325" y="723457"/>
            <a:ext cx="9086850" cy="6178494"/>
          </a:xfrm>
          <a:prstGeom prst="rect">
            <a:avLst/>
          </a:prstGeom>
        </p:spPr>
      </p:pic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0801865" y="6281781"/>
            <a:ext cx="593124" cy="365125"/>
          </a:xfrm>
        </p:spPr>
        <p:txBody>
          <a:bodyPr vert="horz" lIns="91440" tIns="45720" rIns="91440" bIns="45720" rtlCol="0" anchor="ctr"/>
          <a:lstStyle/>
          <a:p>
            <a:fld id="{285DC19C-03DA-4066-9FF7-D0BF1BC6D6F6}" type="slidenum">
              <a:rPr lang="ru-RU" sz="240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fld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853728" y="4464007"/>
            <a:ext cx="42378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Рисунок 3 – Диаграмма классов</a:t>
            </a:r>
          </a:p>
        </p:txBody>
      </p:sp>
    </p:spTree>
    <p:extLst>
      <p:ext uri="{BB962C8B-B14F-4D97-AF65-F5344CB8AC3E}">
        <p14:creationId xmlns:p14="http://schemas.microsoft.com/office/powerpoint/2010/main" val="7955472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-1"/>
            <a:ext cx="12191999" cy="6857999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-4758"/>
            <a:ext cx="12191999" cy="967217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/>
                <a:cs typeface="Times New Roman" panose="02020603050405020304"/>
              </a:rPr>
              <a:t>Пример работы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5011" cy="895703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7E55D68-EE83-4581-9E0F-FC357AF41C2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882" b="15870"/>
          <a:stretch/>
        </p:blipFill>
        <p:spPr>
          <a:xfrm>
            <a:off x="2219325" y="723457"/>
            <a:ext cx="9086850" cy="6178494"/>
          </a:xfrm>
          <a:prstGeom prst="rect">
            <a:avLst/>
          </a:prstGeom>
        </p:spPr>
      </p:pic>
      <p:sp>
        <p:nvSpPr>
          <p:cNvPr id="3" name="Номер слайда 2"/>
          <p:cNvSpPr>
            <a:spLocks noGrp="1"/>
          </p:cNvSpPr>
          <p:nvPr>
            <p:ph type="sldNum" sz="quarter" idx="12"/>
          </p:nvPr>
        </p:nvSpPr>
        <p:spPr>
          <a:xfrm>
            <a:off x="10801865" y="6281781"/>
            <a:ext cx="593124" cy="365125"/>
          </a:xfrm>
        </p:spPr>
        <p:txBody>
          <a:bodyPr vert="horz" lIns="91440" tIns="45720" rIns="91440" bIns="45720" rtlCol="0" anchor="ctr"/>
          <a:lstStyle/>
          <a:p>
            <a:fld id="{285DC19C-03DA-4066-9FF7-D0BF1BC6D6F6}" type="slidenum">
              <a:rPr lang="ru-RU" sz="240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fld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853728" y="4464007"/>
            <a:ext cx="42378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Рисунок 3 – Диаграмма классов</a:t>
            </a:r>
          </a:p>
        </p:txBody>
      </p:sp>
    </p:spTree>
    <p:extLst>
      <p:ext uri="{BB962C8B-B14F-4D97-AF65-F5344CB8AC3E}">
        <p14:creationId xmlns:p14="http://schemas.microsoft.com/office/powerpoint/2010/main" val="462412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541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 charset="0"/>
                <a:ea typeface="+mj-lt"/>
                <a:cs typeface="Times New Roman" panose="02020603050405020304" charset="0"/>
              </a:rPr>
              <a:t>Перспективы развития</a:t>
            </a:r>
            <a:endParaRPr lang="ru-RU" dirty="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09600" y="1739839"/>
            <a:ext cx="10972800" cy="3835523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just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Реализация многопользовательского режима (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PvP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  <a:p>
            <a:pPr algn="just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Расширение пула фракций и типов местности.</a:t>
            </a:r>
          </a:p>
          <a:p>
            <a:pPr algn="just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Добавление новых карт зданий</a:t>
            </a:r>
          </a:p>
          <a:p>
            <a:pPr algn="just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Добавления магазина со скинами кубиков</a:t>
            </a:r>
          </a:p>
          <a:p>
            <a:pPr algn="just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Портирование на мобильные платформы.</a:t>
            </a:r>
          </a:p>
          <a:p>
            <a:pPr algn="just"/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>
          <a:xfrm>
            <a:off x="8648700" y="6261100"/>
            <a:ext cx="2743200" cy="365125"/>
          </a:xfrm>
        </p:spPr>
        <p:txBody>
          <a:bodyPr/>
          <a:lstStyle/>
          <a:p>
            <a:fld id="{285DC19C-03DA-4066-9FF7-D0BF1BC6D6F6}" type="slidenum">
              <a:rPr lang="ru-RU" sz="24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fld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5011" cy="89570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92200"/>
          </a:xfrm>
        </p:spPr>
        <p:txBody>
          <a:bodyPr/>
          <a:lstStyle/>
          <a:p>
            <a:pPr algn="ctr"/>
            <a:r>
              <a:rPr lang="ru-RU" dirty="0">
                <a:latin typeface="Times New Roman" panose="02020603050405020304"/>
                <a:ea typeface="+mj-lt"/>
                <a:cs typeface="+mj-lt"/>
              </a:rPr>
              <a:t>Заключение</a:t>
            </a:r>
            <a:endParaRPr lang="ru-RU" dirty="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322388"/>
            <a:ext cx="10515600" cy="4351338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 algn="just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ходе работы были выполнены все поставленные задачи:</a:t>
            </a:r>
          </a:p>
          <a:p>
            <a:pPr marL="342900" indent="-342900" algn="just">
              <a:buFont typeface="Arial" panose="020B0604020202020204"/>
              <a:buChar char="•"/>
            </a:pPr>
            <a:r>
              <a:rPr lang="ru-RU" sz="2400" dirty="0">
                <a:latin typeface="Times New Roman" panose="02020603050405020304"/>
                <a:ea typeface="+mn-lt"/>
                <a:cs typeface="Times New Roman" panose="02020603050405020304"/>
              </a:rPr>
              <a:t>Провести обзор имеющихся аналогов</a:t>
            </a:r>
          </a:p>
          <a:p>
            <a:pPr marL="342900" indent="-342900" algn="just">
              <a:buFont typeface="Arial" panose="020B0604020202020204"/>
              <a:buChar char="•"/>
            </a:pPr>
            <a:r>
              <a:rPr lang="ru-RU" sz="2400" dirty="0">
                <a:latin typeface="Times New Roman" panose="02020603050405020304"/>
                <a:ea typeface="+mn-lt"/>
                <a:cs typeface="+mn-lt"/>
              </a:rPr>
              <a:t>Проектирование архитектуры (UML) и логики взаимодействия компонентов.</a:t>
            </a:r>
          </a:p>
          <a:p>
            <a:pPr marL="342900" indent="-342900" algn="just">
              <a:buFont typeface="Arial" panose="020B0604020202020204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модуля ИИ и игровых механик на движке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Unity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Arial" panose="020B0604020202020204"/>
              <a:buChar char="•"/>
            </a:pPr>
            <a:r>
              <a:rPr lang="ru-RU" sz="2400" dirty="0">
                <a:latin typeface="Times New Roman" panose="02020603050405020304"/>
                <a:ea typeface="+mn-lt"/>
                <a:cs typeface="+mn-lt"/>
              </a:rPr>
              <a:t>Оптимизация UI/UX и проведение комплексного тестирования</a:t>
            </a:r>
          </a:p>
          <a:p>
            <a:pPr algn="just">
              <a:buNone/>
            </a:pP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результате работы был реализован полноценный проект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Diceville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Созданная архитектура позволяет легко масштабировать контент. В ближайшем будущем планируется добавление сетевого модуля и выпуск игры на мобильные устройства. Проект полностью соответствует заявленным требованиям и готов к эксплуатации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>
          <a:xfrm>
            <a:off x="8610600" y="6284912"/>
            <a:ext cx="2743200" cy="365125"/>
          </a:xfrm>
        </p:spPr>
        <p:txBody>
          <a:bodyPr vert="horz" lIns="91440" tIns="45720" rIns="91440" bIns="45720" rtlCol="0" anchor="ctr"/>
          <a:lstStyle/>
          <a:p>
            <a:fld id="{285DC19C-03DA-4066-9FF7-D0BF1BC6D6F6}" type="slidenum">
              <a:rPr lang="ru-RU" sz="2400">
                <a:latin typeface="Times New Roman" panose="02020603050405020304" pitchFamily="18" charset="0"/>
                <a:cs typeface="Times New Roman" panose="02020603050405020304" pitchFamily="18" charset="0"/>
              </a:rPr>
              <a:t>13</a:t>
            </a:fld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5011" cy="89570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1717589"/>
            <a:ext cx="12192000" cy="2458995"/>
          </a:xfrm>
        </p:spPr>
        <p:txBody>
          <a:bodyPr>
            <a:normAutofit/>
          </a:bodyPr>
          <a:lstStyle/>
          <a:p>
            <a:pPr algn="ctr"/>
            <a:r>
              <a:rPr lang="ru-RU" sz="8000" dirty="0"/>
              <a:t>Спасибо за внимание!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95</TotalTime>
  <Words>476</Words>
  <Application>Microsoft Office PowerPoint</Application>
  <PresentationFormat>Широкоэкранный</PresentationFormat>
  <Paragraphs>108</Paragraphs>
  <Slides>14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19" baseType="lpstr">
      <vt:lpstr>Aptos</vt:lpstr>
      <vt:lpstr>Aptos Display</vt:lpstr>
      <vt:lpstr>Arial</vt:lpstr>
      <vt:lpstr>Times New Roman</vt:lpstr>
      <vt:lpstr>Тема Office</vt:lpstr>
      <vt:lpstr>МИНИСТЕРСТВО НАУКИ И ВЫСШЕГО ОБРАЗОВАНИЯ РОССИЙСКОЙ ФЕДЕРАЦИИ   МОСКОВСКИЙ ГОСУДАРСТВЕННЫЙ УНИВЕРСИТЕТ ГЕОДЕЗИИ И КАРТОГРАФИИ (МИИГАИК)</vt:lpstr>
      <vt:lpstr>Актуальность</vt:lpstr>
      <vt:lpstr>Цели и задачи</vt:lpstr>
      <vt:lpstr>Сравнение аналогов</vt:lpstr>
      <vt:lpstr>Используемые технологии</vt:lpstr>
      <vt:lpstr>Диаграмма вариантов  использования</vt:lpstr>
      <vt:lpstr>Диаграмма компонентов</vt:lpstr>
      <vt:lpstr>Диаграмма классов</vt:lpstr>
      <vt:lpstr>Диаграмма классов</vt:lpstr>
      <vt:lpstr>Диаграмма классов</vt:lpstr>
      <vt:lpstr>Пример работы</vt:lpstr>
      <vt:lpstr>Перспективы развития</vt:lpstr>
      <vt:lpstr>Заключение</vt:lpstr>
      <vt:lpstr>Спасибо за внимание!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МИНИСТЕРСТВО НАУКИ И ВЫСШЕГО ОБРАЗОВАНИЯ РОССИЙСКОЙ ФЕДЕРАЦИИ   МОСКОВСКИЙ ГОСУДАРСТВЕННЫЙ УНИВЕРСИТЕТ ГЕОДЕЗИИ И КАРТОГРАФИИ (МИИГАИК)</dc:title>
  <dc:creator>Fire Owl</dc:creator>
  <cp:lastModifiedBy>Fire Owl</cp:lastModifiedBy>
  <cp:revision>43</cp:revision>
  <dcterms:created xsi:type="dcterms:W3CDTF">2025-12-17T07:13:38Z</dcterms:created>
  <dcterms:modified xsi:type="dcterms:W3CDTF">2025-12-17T09:59:02Z</dcterms:modified>
</cp:coreProperties>
</file>